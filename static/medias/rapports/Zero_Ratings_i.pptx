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5" r:id="rId3"/>
    <p:sldId id="284" r:id="rId4"/>
    <p:sldId id="277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35BDC8AF-163B-40A7-A137-EF7729A7C04E}">
          <p14:sldIdLst>
            <p14:sldId id="256"/>
            <p14:sldId id="275"/>
            <p14:sldId id="284"/>
            <p14:sldId id="277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Style foncé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3979" autoAdjust="0"/>
  </p:normalViewPr>
  <p:slideViewPr>
    <p:cSldViewPr snapToGrid="0">
      <p:cViewPr varScale="1">
        <p:scale>
          <a:sx n="61" d="100"/>
          <a:sy n="61" d="100"/>
        </p:scale>
        <p:origin x="88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50F9E-CD85-4B72-B3F7-C9E97869657A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7544B-B2F9-4A11-8679-8AD1B5A357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434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7544B-B2F9-4A11-8679-8AD1B5A357E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7012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59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214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24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920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80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77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77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879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767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22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243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E7733-6437-415F-AA22-7DA567E3F09C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460A7-BC6D-44FF-9745-BE94A6ABB533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FD8F92-76C8-4F41-BF6F-6A89DABCD0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3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am.campusniger.com/" TargetMode="External"/><Relationship Id="rId2" Type="http://schemas.openxmlformats.org/officeDocument/2006/relationships/hyperlink" Target="https://resultats.officebacniger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hyperlink" Target="https://resultats.officebacniger.com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hyperlink" Target="https://uam.campusniger.com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>
          <a:xfrm>
            <a:off x="1523999" y="2085654"/>
            <a:ext cx="9376881" cy="1343346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rgbClr val="C00000"/>
                </a:solidFill>
              </a:rPr>
            </a:b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ZERO RATING IMAN DIGITAL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233547B-C197-416B-87F6-773BAA141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4987140"/>
            <a:ext cx="2143125" cy="187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99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80" y="125014"/>
            <a:ext cx="10515600" cy="634116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C00000"/>
                </a:solidFill>
                <a:latin typeface="Century Gothic" panose="020B0502020202020204" pitchFamily="34" charset="0"/>
              </a:rPr>
              <a:t>CONTEXTE ET JUSTIFICATIONS</a:t>
            </a:r>
            <a:endParaRPr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708" y="923711"/>
            <a:ext cx="10024513" cy="40646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Chaque année, des milliers de candidats passent le Bac et le BTS au Niger. Les résultats représentent un enjeu majeur pour les familles et l’État.</a:t>
            </a:r>
          </a:p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En 2025, 77 357 candidats ont passés ces épreuves et plus de 30 000 Nouveaux Bachelier.</a:t>
            </a:r>
          </a:p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Le Niger entre dans une nouvelle ère de transformation structurelle, où la vision</a:t>
            </a:r>
            <a:r>
              <a:rPr lang="fr-FR" sz="1400" b="1" dirty="0">
                <a:latin typeface="Century Gothic" panose="020B0502020202020204" pitchFamily="34" charset="0"/>
              </a:rPr>
              <a:t> “Labou </a:t>
            </a:r>
            <a:r>
              <a:rPr lang="fr-FR" sz="1400" b="1" dirty="0" err="1">
                <a:latin typeface="Century Gothic" panose="020B0502020202020204" pitchFamily="34" charset="0"/>
              </a:rPr>
              <a:t>Sanni</a:t>
            </a:r>
            <a:r>
              <a:rPr lang="fr-FR" sz="1400" b="1" dirty="0">
                <a:latin typeface="Century Gothic" panose="020B0502020202020204" pitchFamily="34" charset="0"/>
              </a:rPr>
              <a:t>”</a:t>
            </a:r>
            <a:r>
              <a:rPr lang="fr-FR" sz="1400" dirty="0">
                <a:latin typeface="Century Gothic" panose="020B0502020202020204" pitchFamily="34" charset="0"/>
              </a:rPr>
              <a:t> place les Nigériens au cœur du processus de développement.</a:t>
            </a:r>
          </a:p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Cette orientation nationale encourage la production locale de solutions, la valorisation des compétences internes et la souveraineté numérique.</a:t>
            </a:r>
          </a:p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 Dans ce contexte, l’accès à l’information éducative en ligne demeure un enjeu crucial : chaque année, des milliers de candidats au BAC et au BTS rencontrent des difficultés pour consulter leurs résultats ou procéder à leur inscription universitaire, faute d’un accès internet abordable.</a:t>
            </a:r>
          </a:p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Le projet </a:t>
            </a:r>
            <a:r>
              <a:rPr lang="fr-FR" sz="1400" b="1" dirty="0">
                <a:latin typeface="Century Gothic" panose="020B0502020202020204" pitchFamily="34" charset="0"/>
              </a:rPr>
              <a:t>“</a:t>
            </a:r>
            <a:r>
              <a:rPr lang="fr-FR" sz="1400" b="1" dirty="0" err="1">
                <a:latin typeface="Century Gothic" panose="020B0502020202020204" pitchFamily="34" charset="0"/>
              </a:rPr>
              <a:t>Zero</a:t>
            </a:r>
            <a:r>
              <a:rPr lang="fr-FR" sz="1400" b="1" dirty="0">
                <a:latin typeface="Century Gothic" panose="020B0502020202020204" pitchFamily="34" charset="0"/>
              </a:rPr>
              <a:t> Rating”,</a:t>
            </a:r>
            <a:r>
              <a:rPr lang="fr-FR" sz="1400" dirty="0">
                <a:latin typeface="Century Gothic" panose="020B0502020202020204" pitchFamily="34" charset="0"/>
              </a:rPr>
              <a:t> initié par IMAN SARL et proposé en partenariat avec Niger-</a:t>
            </a:r>
            <a:r>
              <a:rPr lang="fr-FR" sz="1400" dirty="0" err="1">
                <a:latin typeface="Century Gothic" panose="020B0502020202020204" pitchFamily="34" charset="0"/>
              </a:rPr>
              <a:t>Telecoms</a:t>
            </a:r>
            <a:r>
              <a:rPr lang="fr-FR" sz="1400" dirty="0">
                <a:latin typeface="Century Gothic" panose="020B0502020202020204" pitchFamily="34" charset="0"/>
              </a:rPr>
              <a:t>, s’inscrit pleinement dans cette dynamique nationale. Il vise à offrir un accès gratuit aux plateformes éducatives publiques, contribuant ainsi au développement d’un écosystème numérique nigérien, fait par et pour les Nigériens.</a:t>
            </a:r>
          </a:p>
          <a:p>
            <a:pPr marL="0" indent="0">
              <a:buNone/>
            </a:pPr>
            <a:br>
              <a:rPr lang="fr-FR" sz="1400" dirty="0">
                <a:latin typeface="Century Gothic" panose="020B0502020202020204" pitchFamily="34" charset="0"/>
              </a:rPr>
            </a:br>
            <a:r>
              <a:rPr lang="fr-FR" sz="1400" dirty="0">
                <a:latin typeface="Century Gothic" panose="020B0502020202020204" pitchFamily="34" charset="0"/>
              </a:rPr>
              <a:t>L’accès à l’information éducative en ligne reste un défi majeur au Niger, en particulier pour les étudiants situés en zones rurales ou à faible connectivité.</a:t>
            </a:r>
          </a:p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Chaque année, des milliers de candidats au BAC et au BTS rencontrent des difficultés pour consulter leurs résultats ou procéder à leur inscription universitaire, faute d’accès internet abordable.</a:t>
            </a:r>
          </a:p>
          <a:p>
            <a:pPr marL="0" indent="0">
              <a:buNone/>
            </a:pPr>
            <a:r>
              <a:rPr lang="fr-FR" sz="14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9102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1B9426-AE2E-C2F9-6062-F6F8A0A5B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663" y="347196"/>
            <a:ext cx="10515600" cy="4248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500" dirty="0">
                <a:latin typeface="Century Gothic" panose="020B0502020202020204" pitchFamily="34" charset="0"/>
              </a:rPr>
              <a:t>Problème : l’accès reste difficile à cause du coût de connexion, de la fracture numérique et de la saturation des cybercafés 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 Coût élevé de l’Internet pour les familles défavorisées.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Inégalités d’accès entre villes et campagnes 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Rumeurs et informations non officielles avant les communiqués.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Perte de temps et attroupements devant les établissements.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L'utilisateur utilise sa carte SIM Niger-</a:t>
            </a:r>
            <a:r>
              <a:rPr lang="fr-FR" sz="1500" dirty="0" err="1">
                <a:latin typeface="Century Gothic" panose="020B0502020202020204" pitchFamily="34" charset="0"/>
              </a:rPr>
              <a:t>telecoms</a:t>
            </a:r>
            <a:r>
              <a:rPr lang="fr-FR" sz="1500" dirty="0">
                <a:latin typeface="Century Gothic" panose="020B0502020202020204" pitchFamily="34" charset="0"/>
              </a:rPr>
              <a:t> avec abonnement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Tout abonnement data fait l'objet d'un suivi précis de sa consommation mensuelle.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Lorsque la consommation totale de données mobiles dépasse 70 Mo dans le mois civil, l'utilisateur est éligible à un accès gratuit aux résultats via un mécanisme de </a:t>
            </a:r>
            <a:r>
              <a:rPr lang="fr-FR" sz="1500" dirty="0" err="1">
                <a:latin typeface="Century Gothic" panose="020B0502020202020204" pitchFamily="34" charset="0"/>
              </a:rPr>
              <a:t>Zero</a:t>
            </a:r>
            <a:r>
              <a:rPr lang="fr-FR" sz="1500" dirty="0">
                <a:latin typeface="Century Gothic" panose="020B0502020202020204" pitchFamily="34" charset="0"/>
              </a:rPr>
              <a:t>-Rating.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Ce </a:t>
            </a:r>
            <a:r>
              <a:rPr lang="fr-FR" sz="1500" dirty="0" err="1">
                <a:latin typeface="Century Gothic" panose="020B0502020202020204" pitchFamily="34" charset="0"/>
              </a:rPr>
              <a:t>Zero</a:t>
            </a:r>
            <a:r>
              <a:rPr lang="fr-FR" sz="1500" dirty="0">
                <a:latin typeface="Century Gothic" panose="020B0502020202020204" pitchFamily="34" charset="0"/>
              </a:rPr>
              <a:t>-Rating consiste à whitelisté dynamiquement le domaine  </a:t>
            </a:r>
            <a:r>
              <a:rPr lang="fr-FR" sz="1500" u="sng" dirty="0">
                <a:latin typeface="Century Gothic" panose="020B0502020202020204" pitchFamily="34" charset="0"/>
                <a:hlinkClick r:id="rId2"/>
              </a:rPr>
              <a:t>https://resultats.officebacniger.com</a:t>
            </a:r>
            <a:r>
              <a:rPr lang="fr-FR" sz="1500" dirty="0">
                <a:latin typeface="Century Gothic" panose="020B0502020202020204" pitchFamily="34" charset="0"/>
              </a:rPr>
              <a:t> , </a:t>
            </a:r>
            <a:r>
              <a:rPr lang="fr-FR" sz="1500" u="sng" dirty="0">
                <a:latin typeface="Century Gothic" panose="020B0502020202020204" pitchFamily="34" charset="0"/>
                <a:hlinkClick r:id="rId3"/>
              </a:rPr>
              <a:t>https://uam.campusniger.com/</a:t>
            </a:r>
            <a:r>
              <a:rPr lang="fr-FR" sz="1500" dirty="0">
                <a:latin typeface="Century Gothic" panose="020B0502020202020204" pitchFamily="34" charset="0"/>
              </a:rPr>
              <a:t> afin que le trafic vers ce domaine soit exempté de données de facturation.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La condition 70 Mo n'est pas communiquée à l'utilisateur pour éviter toute contrainte perçue ; c'est totalement transparent.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Accès sécurisé par SSL/TLS via la plateforme </a:t>
            </a:r>
            <a:r>
              <a:rPr lang="fr-FR" sz="1500" dirty="0" err="1">
                <a:latin typeface="Century Gothic" panose="020B0502020202020204" pitchFamily="34" charset="0"/>
              </a:rPr>
              <a:t>Ifitur</a:t>
            </a:r>
            <a:r>
              <a:rPr lang="fr-FR" sz="1500" dirty="0">
                <a:latin typeface="Century Gothic" panose="020B0502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500" dirty="0">
                <a:latin typeface="Century Gothic" panose="020B0502020202020204" pitchFamily="34" charset="0"/>
              </a:rPr>
              <a:t>Opportunité : La plateforme </a:t>
            </a:r>
            <a:r>
              <a:rPr lang="fr-FR" sz="1500" dirty="0" err="1">
                <a:latin typeface="Century Gothic" panose="020B0502020202020204" pitchFamily="34" charset="0"/>
              </a:rPr>
              <a:t>Ifitur</a:t>
            </a:r>
            <a:r>
              <a:rPr lang="fr-FR" sz="1500" dirty="0">
                <a:latin typeface="Century Gothic" panose="020B0502020202020204" pitchFamily="34" charset="0"/>
              </a:rPr>
              <a:t> existe déjà et permet la mise en ligne des résultats. La solution proposée par IMAN est d’intégrer Niger Telecom via un mécanisme Zéro-Rating.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15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59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71" y="663608"/>
            <a:ext cx="10515600" cy="7189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C00000"/>
                </a:solidFill>
                <a:latin typeface="Century Gothic" panose="020B0502020202020204" pitchFamily="34" charset="0"/>
              </a:rPr>
              <a:t>Problématique</a:t>
            </a:r>
            <a:endParaRPr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530" y="1382565"/>
            <a:ext cx="10515600" cy="3456563"/>
          </a:xfrm>
        </p:spPr>
        <p:txBody>
          <a:bodyPr>
            <a:noAutofit/>
          </a:bodyPr>
          <a:lstStyle/>
          <a:p>
            <a:pPr lvl="0"/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Coût élevé de l’Internet pour les familles défavorisées.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Inégalités d’accès entre villes et campagnes ;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Rumeurs et informations non officielles avant les communiqués.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Perte de temps et attroupements devant les établissements.</a:t>
            </a:r>
          </a:p>
          <a:p>
            <a:pPr>
              <a:lnSpc>
                <a:spcPct val="120000"/>
              </a:lnSpc>
            </a:pPr>
            <a:endParaRPr lang="fr-FR" sz="14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2751368"/>
            <a:ext cx="10515600" cy="7189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rgbClr val="C00000"/>
                </a:solidFill>
                <a:latin typeface="Century Gothic" panose="020B0502020202020204" pitchFamily="34" charset="0"/>
              </a:rPr>
              <a:t>Solutions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20365" y="3470325"/>
            <a:ext cx="10515600" cy="3274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Offrir un accès gratuit, universel et sécurisé aux résultats officiels du Bac et du BTS pour tous les Nigériens ;</a:t>
            </a:r>
          </a:p>
          <a:p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Mettre en place un–Zéro-</a:t>
            </a:r>
            <a:r>
              <a:rPr lang="fr-FR" sz="1600" dirty="0" err="1">
                <a:latin typeface="Century Gothic" panose="020B0502020202020204" pitchFamily="34" charset="0"/>
                <a:ea typeface="+mj-ea"/>
                <a:cs typeface="+mj-cs"/>
              </a:rPr>
              <a:t>Rated</a:t>
            </a:r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 URL via Niger-</a:t>
            </a:r>
            <a:r>
              <a:rPr lang="fr-FR" sz="1600" dirty="0" err="1">
                <a:latin typeface="Century Gothic" panose="020B0502020202020204" pitchFamily="34" charset="0"/>
                <a:ea typeface="+mj-ea"/>
                <a:cs typeface="+mj-cs"/>
              </a:rPr>
              <a:t>Telecoms</a:t>
            </a:r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 ;</a:t>
            </a:r>
          </a:p>
          <a:p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Garantir l’inclusion numérique en zone urbaine et rurale ;</a:t>
            </a:r>
          </a:p>
          <a:p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Sécuriser la transmission des résultats ;</a:t>
            </a:r>
          </a:p>
          <a:p>
            <a:r>
              <a:rPr lang="fr-FR" sz="1600" dirty="0">
                <a:latin typeface="Century Gothic" panose="020B0502020202020204" pitchFamily="34" charset="0"/>
                <a:ea typeface="+mj-ea"/>
                <a:cs typeface="+mj-cs"/>
              </a:rPr>
              <a:t>Valoriser Niger Telecom comme partenaire citoyen stratégique.</a:t>
            </a:r>
          </a:p>
          <a:p>
            <a:pPr>
              <a:lnSpc>
                <a:spcPct val="100000"/>
              </a:lnSpc>
            </a:pPr>
            <a:endParaRPr lang="fr-FR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31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06972" y="175939"/>
            <a:ext cx="10515600" cy="1325563"/>
          </a:xfrm>
        </p:spPr>
        <p:txBody>
          <a:bodyPr/>
          <a:lstStyle/>
          <a:p>
            <a:r>
              <a:rPr lang="fr-FR" noProof="0" dirty="0">
                <a:solidFill>
                  <a:srgbClr val="C00000"/>
                </a:solidFill>
              </a:rPr>
              <a:t>Mécanismes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333337"/>
            <a:ext cx="10515600" cy="789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entury Gothic" panose="020B0502020202020204" pitchFamily="34" charset="0"/>
              </a:rPr>
              <a:t>L’élève active ses données mobiles Niger-</a:t>
            </a:r>
            <a:r>
              <a:rPr lang="fr-FR" sz="1600" dirty="0" err="1">
                <a:latin typeface="Century Gothic" panose="020B0502020202020204" pitchFamily="34" charset="0"/>
              </a:rPr>
              <a:t>Telecoms</a:t>
            </a:r>
            <a:r>
              <a:rPr lang="fr-FR" sz="1600" dirty="0">
                <a:latin typeface="Century Gothic" panose="020B0502020202020204" pitchFamily="34" charset="0"/>
              </a:rPr>
              <a:t> →Il accède à </a:t>
            </a:r>
            <a:r>
              <a:rPr lang="fr-FR" sz="1600" u="sng" dirty="0">
                <a:latin typeface="Century Gothic" panose="020B0502020202020204" pitchFamily="34" charset="0"/>
                <a:hlinkClick r:id="rId3"/>
              </a:rPr>
              <a:t>https://resultats.officebacniger.com/</a:t>
            </a:r>
            <a:r>
              <a:rPr lang="fr-FR" sz="1600" dirty="0">
                <a:latin typeface="Century Gothic" panose="020B0502020202020204" pitchFamily="34" charset="0"/>
              </a:rPr>
              <a:t> et </a:t>
            </a:r>
            <a:r>
              <a:rPr lang="fr-FR" sz="1600" u="sng" dirty="0">
                <a:latin typeface="Century Gothic" panose="020B0502020202020204" pitchFamily="34" charset="0"/>
                <a:hlinkClick r:id="rId4"/>
              </a:rPr>
              <a:t>https://uam.campusniger.com/</a:t>
            </a:r>
            <a:r>
              <a:rPr lang="fr-FR" sz="1600" dirty="0">
                <a:latin typeface="Century Gothic" panose="020B0502020202020204" pitchFamily="34" charset="0"/>
              </a:rPr>
              <a:t> → La navigation est gratuite grâce au Zéro-Rating →Il saisit son numéro de table → Son résultat officiel s’affiche immédiatement.</a:t>
            </a:r>
          </a:p>
          <a:p>
            <a:endParaRPr lang="en-US" sz="16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55ACEAA-708C-91CB-7C57-CCA82E6632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648" y="2501462"/>
            <a:ext cx="5665076" cy="421464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1550094-CA05-A1DA-EB3A-6A3A1847C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713" y="2430517"/>
            <a:ext cx="2976287" cy="428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8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E4224C-6A41-3792-AA16-D50857B8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979" y="183930"/>
            <a:ext cx="9007366" cy="977462"/>
          </a:xfrm>
        </p:spPr>
        <p:txBody>
          <a:bodyPr>
            <a:normAutofit/>
          </a:bodyPr>
          <a:lstStyle/>
          <a:p>
            <a:r>
              <a:rPr lang="fr-FR" sz="4800" dirty="0">
                <a:solidFill>
                  <a:srgbClr val="C00000"/>
                </a:solidFill>
                <a:latin typeface="Century Gothic" panose="020B0502020202020204" pitchFamily="34" charset="0"/>
              </a:rPr>
              <a:t>Gains et avantages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A72057CF-07DD-A94D-4175-42EF521F0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944608"/>
              </p:ext>
            </p:extLst>
          </p:nvPr>
        </p:nvGraphicFramePr>
        <p:xfrm>
          <a:off x="1250731" y="1305910"/>
          <a:ext cx="9007366" cy="42461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265564">
                  <a:extLst>
                    <a:ext uri="{9D8B030D-6E8A-4147-A177-3AD203B41FA5}">
                      <a16:colId xmlns:a16="http://schemas.microsoft.com/office/drawing/2014/main" val="1380670936"/>
                    </a:ext>
                  </a:extLst>
                </a:gridCol>
                <a:gridCol w="6741802">
                  <a:extLst>
                    <a:ext uri="{9D8B030D-6E8A-4147-A177-3AD203B41FA5}">
                      <a16:colId xmlns:a16="http://schemas.microsoft.com/office/drawing/2014/main" val="4093387435"/>
                    </a:ext>
                  </a:extLst>
                </a:gridCol>
              </a:tblGrid>
              <a:tr h="333311">
                <a:tc>
                  <a:txBody>
                    <a:bodyPr/>
                    <a:lstStyle/>
                    <a:p>
                      <a:pPr marL="69850" algn="l">
                        <a:lnSpc>
                          <a:spcPct val="150000"/>
                        </a:lnSpc>
                        <a:buNone/>
                      </a:pPr>
                      <a:r>
                        <a:rPr lang="fr-FR" sz="1400" b="1" spc="-1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Acteurs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marR="3175" algn="l">
                        <a:lnSpc>
                          <a:spcPct val="150000"/>
                        </a:lnSpc>
                        <a:buNone/>
                      </a:pPr>
                      <a:r>
                        <a:rPr lang="fr-FR" sz="1400" b="1" spc="-2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Gains principaux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985098"/>
                  </a:ext>
                </a:extLst>
              </a:tr>
              <a:tr h="1043432">
                <a:tc>
                  <a:txBody>
                    <a:bodyPr/>
                    <a:lstStyle/>
                    <a:p>
                      <a:pPr marL="69850">
                        <a:lnSpc>
                          <a:spcPts val="1120"/>
                        </a:lnSpc>
                        <a:buNone/>
                      </a:pPr>
                      <a:r>
                        <a:rPr lang="fr-FR" sz="1400" b="1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IMAN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Positionnement comme intégrateur numérique national.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Visibilité accrue auprès de l’État.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Revenus via coordination, suivi et services complémentaires.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Opportunité de proposer d’autres solutions numériques.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213220"/>
                  </a:ext>
                </a:extLst>
              </a:tr>
              <a:tr h="1043432">
                <a:tc>
                  <a:txBody>
                    <a:bodyPr/>
                    <a:lstStyle/>
                    <a:p>
                      <a:pPr marL="69850" marR="127000">
                        <a:lnSpc>
                          <a:spcPts val="1220"/>
                        </a:lnSpc>
                        <a:buNone/>
                      </a:pPr>
                      <a:r>
                        <a:rPr lang="fr-FR" sz="1400" b="1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NIGER-TELECOMS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Image renforcée comme partenaire citoyen.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Fidélisation des abonnés.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Augmentation du trafic et visibilité nationale.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Valorisation comme acteur clé de la transformation digitale.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466839"/>
                  </a:ext>
                </a:extLst>
              </a:tr>
              <a:tr h="1043432">
                <a:tc>
                  <a:txBody>
                    <a:bodyPr/>
                    <a:lstStyle/>
                    <a:p>
                      <a:pPr marL="69850" marR="127000">
                        <a:lnSpc>
                          <a:spcPts val="1220"/>
                        </a:lnSpc>
                        <a:buNone/>
                      </a:pPr>
                      <a:r>
                        <a:rPr lang="fr-FR" sz="1400" b="1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ETAT/MINISTERES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Modernisation de la communication éducative.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Réduction des coûts logistiques.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Sécurité et transparence des résultats.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Impact positif en termes d’image et d’inclusion.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209061"/>
                  </a:ext>
                </a:extLst>
              </a:tr>
              <a:tr h="782573">
                <a:tc>
                  <a:txBody>
                    <a:bodyPr/>
                    <a:lstStyle/>
                    <a:p>
                      <a:pPr marL="69850" marR="127000">
                        <a:lnSpc>
                          <a:spcPts val="1220"/>
                        </a:lnSpc>
                        <a:buNone/>
                      </a:pPr>
                      <a:r>
                        <a:rPr lang="fr-FR" sz="1400" b="1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USAGERS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Accès gratuit, rapide et fiable.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Moins de stress et déplacements.</a:t>
                      </a:r>
                      <a:b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</a:b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 Équité entre zones rurales et urbaines.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141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83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AB2594-2A41-6A72-3365-B59C9FCC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Budgétisation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25509503-442A-52C4-DC36-92497FBD9D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0200"/>
              </p:ext>
            </p:extLst>
          </p:nvPr>
        </p:nvGraphicFramePr>
        <p:xfrm>
          <a:off x="546066" y="1872414"/>
          <a:ext cx="10931703" cy="331969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4982376">
                  <a:extLst>
                    <a:ext uri="{9D8B030D-6E8A-4147-A177-3AD203B41FA5}">
                      <a16:colId xmlns:a16="http://schemas.microsoft.com/office/drawing/2014/main" val="721215089"/>
                    </a:ext>
                  </a:extLst>
                </a:gridCol>
                <a:gridCol w="3832473">
                  <a:extLst>
                    <a:ext uri="{9D8B030D-6E8A-4147-A177-3AD203B41FA5}">
                      <a16:colId xmlns:a16="http://schemas.microsoft.com/office/drawing/2014/main" val="2179134773"/>
                    </a:ext>
                  </a:extLst>
                </a:gridCol>
                <a:gridCol w="2116854">
                  <a:extLst>
                    <a:ext uri="{9D8B030D-6E8A-4147-A177-3AD203B41FA5}">
                      <a16:colId xmlns:a16="http://schemas.microsoft.com/office/drawing/2014/main" val="90673113"/>
                    </a:ext>
                  </a:extLst>
                </a:gridCol>
              </a:tblGrid>
              <a:tr h="345681">
                <a:tc>
                  <a:txBody>
                    <a:bodyPr/>
                    <a:lstStyle/>
                    <a:p>
                      <a:pPr marL="69850">
                        <a:lnSpc>
                          <a:spcPct val="150000"/>
                        </a:lnSpc>
                        <a:buNone/>
                      </a:pPr>
                      <a:r>
                        <a:rPr lang="fr-FR" sz="1400" b="1" spc="-1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Poste </a:t>
                      </a:r>
                      <a:endParaRPr lang="fr-FR" sz="14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marR="3175" algn="ctr">
                        <a:lnSpc>
                          <a:spcPct val="150000"/>
                        </a:lnSpc>
                        <a:buNone/>
                      </a:pPr>
                      <a:r>
                        <a:rPr lang="fr-FR" sz="1400" b="1" spc="-2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Description</a:t>
                      </a:r>
                      <a:endParaRPr lang="fr-FR" sz="14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50000"/>
                        </a:lnSpc>
                        <a:buNone/>
                      </a:pPr>
                      <a:r>
                        <a:rPr lang="fr-FR" sz="1400" b="1" spc="-1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Montant (FCFA)</a:t>
                      </a:r>
                      <a:endParaRPr lang="fr-FR" sz="14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762010"/>
                  </a:ext>
                </a:extLst>
              </a:tr>
              <a:tr h="674498">
                <a:tc>
                  <a:txBody>
                    <a:bodyPr/>
                    <a:lstStyle/>
                    <a:p>
                      <a:pPr marL="69850">
                        <a:lnSpc>
                          <a:spcPct val="200000"/>
                        </a:lnSpc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Stratégie Digitale et Plan Com 365 (IMAN)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Lancement, Campagne, caravane &amp; support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30 000 000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136264"/>
                  </a:ext>
                </a:extLst>
              </a:tr>
              <a:tr h="689956">
                <a:tc>
                  <a:txBody>
                    <a:bodyPr/>
                    <a:lstStyle/>
                    <a:p>
                      <a:pPr marL="69850" marR="127000">
                        <a:lnSpc>
                          <a:spcPct val="20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Configuration </a:t>
                      </a:r>
                      <a:r>
                        <a:rPr lang="en-US" sz="1400" dirty="0" err="1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Zéro</a:t>
                      </a:r>
                      <a:r>
                        <a:rPr lang="en-US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-Rating (Niger Telecom)</a:t>
                      </a:r>
                      <a:endParaRPr lang="fr-FR" sz="14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Technique &amp; supervision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725382"/>
                  </a:ext>
                </a:extLst>
              </a:tr>
              <a:tr h="689956">
                <a:tc>
                  <a:txBody>
                    <a:bodyPr/>
                    <a:lstStyle/>
                    <a:p>
                      <a:pPr marL="69850" marR="127000">
                        <a:lnSpc>
                          <a:spcPct val="200000"/>
                        </a:lnSpc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Communication nationale (IMAN)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spcBef>
                          <a:spcPts val="10"/>
                        </a:spcBef>
                        <a:buNone/>
                      </a:pPr>
                      <a:r>
                        <a:rPr lang="fr-FR" sz="140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Radios, TV, SMS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9 000 000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78177"/>
                  </a:ext>
                </a:extLst>
              </a:tr>
              <a:tr h="576735">
                <a:tc>
                  <a:txBody>
                    <a:bodyPr/>
                    <a:lstStyle/>
                    <a:p>
                      <a:pPr marL="69850" marR="127000">
                        <a:lnSpc>
                          <a:spcPct val="200000"/>
                        </a:lnSpc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Coordination &amp; suivi (IMAN)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Organisation (com), </a:t>
                      </a:r>
                      <a:r>
                        <a:rPr lang="fr-FR" sz="1400" dirty="0" err="1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reporting</a:t>
                      </a:r>
                      <a:endParaRPr lang="fr-FR" sz="14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10 000 000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796757"/>
                  </a:ext>
                </a:extLst>
              </a:tr>
              <a:tr h="342870">
                <a:tc>
                  <a:txBody>
                    <a:bodyPr/>
                    <a:lstStyle/>
                    <a:p>
                      <a:pPr marL="69850">
                        <a:lnSpc>
                          <a:spcPts val="1120"/>
                        </a:lnSpc>
                        <a:buNone/>
                      </a:pPr>
                      <a:r>
                        <a:rPr lang="fr-FR" sz="1400" b="1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TOTAL</a:t>
                      </a:r>
                      <a:endParaRPr lang="fr-FR" sz="1400" dirty="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120"/>
                        </a:lnSpc>
                        <a:buNone/>
                      </a:pPr>
                      <a:r>
                        <a:rPr lang="fr-FR" sz="1400" b="1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 </a:t>
                      </a:r>
                      <a:endParaRPr lang="fr-FR" sz="1400"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a:t>49 000 000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317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93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C55813-DC7F-D711-3512-D8A30DF7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4B5F36-6C65-74A7-D30C-24BE3912E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45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Ce projet est une innovation citoyenne et stratégique qui répond à un besoin concret : accès gratuit, sécurisé et équitable aux résultats scolaires.</a:t>
            </a:r>
          </a:p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Il positionne IMAN comme intégrateur numérique national et valorise Niger télécom comme acteur incontournable du numérique.</a:t>
            </a:r>
          </a:p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Avec l’appui des ministères concernés, ce projet sera une référence en Afrique de l’Ouest pour l’inclusion numérique éducative.</a:t>
            </a:r>
          </a:p>
          <a:p>
            <a:pPr marL="0" indent="0">
              <a:buNone/>
            </a:pPr>
            <a:r>
              <a:rPr lang="fr-FR" sz="1400" dirty="0">
                <a:latin typeface="Century Gothic" panose="020B0502020202020204" pitchFamily="34" charset="0"/>
              </a:rPr>
              <a:t>Les perspectives sont entre autres 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FR" sz="1400" dirty="0">
                <a:latin typeface="Century Gothic" panose="020B0502020202020204" pitchFamily="34" charset="0"/>
              </a:rPr>
              <a:t>Renouvellement annuel du projet.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FR" sz="1400" dirty="0">
                <a:latin typeface="Century Gothic" panose="020B0502020202020204" pitchFamily="34" charset="0"/>
              </a:rPr>
              <a:t>Extension aux autres examens : BEPC, CEPD.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FR" sz="1400" dirty="0">
                <a:latin typeface="Century Gothic" panose="020B0502020202020204" pitchFamily="34" charset="0"/>
              </a:rPr>
              <a:t>Intégration d’un canal USSD/SMS pour zones sans smartphones.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FR" sz="1400" dirty="0">
                <a:latin typeface="Century Gothic" panose="020B0502020202020204" pitchFamily="34" charset="0"/>
              </a:rPr>
              <a:t>Base pour d’autres projets numériques nationaux (éducation, santé, fiscalité).</a:t>
            </a:r>
          </a:p>
          <a:p>
            <a:pPr marL="0" indent="0">
              <a:buNone/>
            </a:pPr>
            <a:endParaRPr lang="fr-FR" sz="1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0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4961</TotalTime>
  <Words>925</Words>
  <Application>Microsoft Office PowerPoint</Application>
  <PresentationFormat>Grand écran</PresentationFormat>
  <Paragraphs>76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Wingdings</vt:lpstr>
      <vt:lpstr>Thème Office</vt:lpstr>
      <vt:lpstr>  ZERO RATING IMAN DIGITAL</vt:lpstr>
      <vt:lpstr>CONTEXTE ET JUSTIFICATIONS</vt:lpstr>
      <vt:lpstr>Présentation PowerPoint</vt:lpstr>
      <vt:lpstr>Problématique</vt:lpstr>
      <vt:lpstr>Mécanismes</vt:lpstr>
      <vt:lpstr>Gains et avantages</vt:lpstr>
      <vt:lpstr>Budgétisation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Ismael Issaka</cp:lastModifiedBy>
  <cp:revision>522</cp:revision>
  <cp:lastPrinted>2025-07-14T13:13:18Z</cp:lastPrinted>
  <dcterms:created xsi:type="dcterms:W3CDTF">2025-01-07T12:43:07Z</dcterms:created>
  <dcterms:modified xsi:type="dcterms:W3CDTF">2025-11-07T18:29:42Z</dcterms:modified>
</cp:coreProperties>
</file>